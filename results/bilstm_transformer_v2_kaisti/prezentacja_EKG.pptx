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383280"/>
            <a:ext cx="8595360" cy="2743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Rekonstrukcja sygnału EKG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sejsmokardiografii i żyrokardiografii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architektur głębokiego uczenia (BiLSTM+Transformer, TCN, UNet1D)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931920" cy="1188720"/>
          </a:xfrm>
          <a:prstGeom prst="rect">
            <a:avLst/>
          </a:prstGeom>
          <a:solidFill>
            <a:srgbClr val="142033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Hubert Kozierkiewicz
</a:t>
            </a:r>
            <a:pPr algn="l" indent="0" marL="0">
              <a:buNone/>
            </a:pPr>
            <a:r>
              <a:rPr lang="en-US" sz="1350" b="1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</a:t>
            </a:r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Informatyka medyczna
</a:t>
            </a:r>
            <a:pPr algn="l" indent="0" marL="0">
              <a:buNone/>
            </a:pPr>
            <a:r>
              <a:rPr lang="en-US" sz="1350" b="1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Uczelnia: </a:t>
            </a:r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AGH WIEiT, Kraków 2026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3520440"/>
            <a:ext cx="4297680" cy="1188720"/>
          </a:xfrm>
          <a:prstGeom prst="rect">
            <a:avLst/>
          </a:prstGeom>
          <a:solidFill>
            <a:srgbClr val="142033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konfiguracji modeli
</a:t>
            </a:r>
            <a:pPr algn="l" indent="0" marL="0">
              <a:buNone/>
            </a:pPr>
            <a:r>
              <a:rPr lang="en-US" sz="135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</a:t>
            </a:r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próbki okno (4 s @ 256 Hz)
</a:t>
            </a:r>
            <a:pPr algn="l" indent="0" marL="0">
              <a:buNone/>
            </a:pPr>
            <a:r>
              <a:rPr lang="en-US" sz="135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r=0,838 </a:t>
            </a:r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 wynik (PCA, CP-27)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553712"/>
            <a:ext cx="1298448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53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SCG/GCG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4553712"/>
            <a:ext cx="1298448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553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553712"/>
            <a:ext cx="1298448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4553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4553712"/>
            <a:ext cx="1298448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553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4553712"/>
            <a:ext cx="1298448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553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i zakres projektu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" cy="1691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Rekonstrukcja EKG bez elektrod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Synteza przebiegu EKG z sygnałów mechanicznych (SCG/GCG) mierzonych akcelerometrem i żyroskopem.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411480" cy="1691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002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cross-subject (globalny)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trenowany na wielu pacjentach, ewaluowany na osobach niewidzianych podczas treningu (podział 80/20).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11480" cy="1691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747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5 konfiguracji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BiLSTM+Transformer (v1, v2, PCA), TCN i UNet1D — każdy z dedykowanym potokiem sygnałowym.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411480" cy="1691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4747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HRV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Wyznaczenie indeksów HR, SDNN, RMSSD, LF/HF ze zrekonstruowanego EKG; porównanie z ground truth.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i konfiguracja eksperymentu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ZBIORY DANYCH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416052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DataPort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Populacja: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zdrowych ochotników
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Próbkowanie: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→ 256 Hz
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Kanały: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XYZ + GCG XYZ + EKG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60320"/>
            <a:ext cx="4160520" cy="2926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603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VHD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8950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Populacja: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pacjentów z VHD
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Próbkowanie: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Hz
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Kanały: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XYZ + GCG XYZ + EKG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840480"/>
            <a:ext cx="41605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404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Podział: 80% trening / 20% walidacja (seed=42, poziom rekordów)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399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próbki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okno wejściowe (SEQ_LEN)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32588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399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0372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256 Hz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długość okna w czasie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754880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próbki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długość rekonstrukcji (seq2seq)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256032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03720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903720" y="3154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rekordów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końcowa (niewidziane)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41605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404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Zadanie: regresja seq2seq  [B, 1024, C] → [B, 1024, 1]  (amplituda EKG per próbka)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konfiguracji model–potok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3317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10515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960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960120"/>
            <a:ext cx="100584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960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192024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 (C)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960120"/>
            <a:ext cx="22860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cecha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344168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344168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BiLSTM+Transformer v1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1344168"/>
            <a:ext cx="1051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344168"/>
            <a:ext cx="960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kaisti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03320" y="1344168"/>
            <a:ext cx="10058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344168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 mln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344168"/>
            <a:ext cx="1920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344168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+ GCG (1+1)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29400" y="1344168"/>
            <a:ext cx="22860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344168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inicjalizowane losowo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331720" cy="539496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20240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BiLSTM+Transformer v2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1920240"/>
            <a:ext cx="1051560" cy="539496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1920240"/>
            <a:ext cx="960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kaisti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03320" y="1920240"/>
            <a:ext cx="1005840" cy="539496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1920240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 mln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1920240"/>
            <a:ext cx="1920240" cy="539496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20240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+ GCG (1+1)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920240"/>
            <a:ext cx="2286000" cy="539496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20240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inicjalizowane sinusoidalnie ★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249631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496312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BiLSTM+Transformer PCA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2496312"/>
            <a:ext cx="1051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2496312"/>
            <a:ext cx="960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03320" y="2496312"/>
            <a:ext cx="10058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496312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 mln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2496312"/>
            <a:ext cx="1920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96312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PC1(SCG) + PC1(GCG)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29400" y="2496312"/>
            <a:ext cx="22860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496312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osi przez PCA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3072384"/>
            <a:ext cx="2331720" cy="539496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072384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51760" y="3072384"/>
            <a:ext cx="1051560" cy="539496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3072384"/>
            <a:ext cx="960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03320" y="3072384"/>
            <a:ext cx="1005840" cy="539496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3072384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tys.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9160" y="3072384"/>
            <a:ext cx="1920240" cy="539496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072384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(1 oś SNR)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629400" y="3072384"/>
            <a:ext cx="2286000" cy="539496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3072384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causal conv (przyczynowe)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20040" y="364845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648456"/>
            <a:ext cx="2240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UNet1D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651760" y="3648456"/>
            <a:ext cx="1051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3648456"/>
            <a:ext cx="9601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subband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703320" y="3648456"/>
            <a:ext cx="10058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3648456"/>
            <a:ext cx="9144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 tys.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09160" y="3648456"/>
            <a:ext cx="19202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648456"/>
            <a:ext cx="18288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SCG+GCG × 3 pasma=6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29400" y="3648456"/>
            <a:ext cx="22860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0" y="3648456"/>
            <a:ext cx="21945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connections, subband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Najlepszy wynik średni   |   Potoki: kaisti = SNR-based axis + Butterworth  |  pca = PCA axis  |  wavelet = denoising  |  subband = 3 pasma częst.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 model: BiLSTM+Transformer v2 + kaisti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017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[B,1024,1]  +  GCG [B,1024,1]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4023360" cy="3017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8191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BiLSTM × 2 (hidden=128/dir)  — osobne gałęzie SCG / GCG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29384"/>
            <a:ext cx="4023360" cy="3017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2938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Concat → [B, 1024, 512]  →  Linear 512→128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76856"/>
            <a:ext cx="402336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768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Positional Embedding (learnable, max_len=2000)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★ v2: inicjalizacja sinusoidalna (v1: losowa)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4023360" cy="3017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3405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Transformer Encoder:  4 warstwy · 8 głowic atencji · FF=512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81528"/>
            <a:ext cx="402336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8152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MLP Decoder:  128 → 64 → 1  (amplituda EKG per próbka)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4023360" cy="3017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290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EKG [B, 1024, 1]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40233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STATYSTYKI TRENINGU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07822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2 052 673
</a:t>
            </a:r>
            <a:pPr algn="l" indent="0" marL="0">
              <a:buNone/>
            </a:pPr>
            <a:r>
              <a:rPr lang="en-US" sz="950" b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kanały (SCG + GCG), [B, 1024, 2]
</a:t>
            </a:r>
            <a:pPr algn="l" indent="0" marL="0">
              <a:buNone/>
            </a:pPr>
            <a:r>
              <a:rPr lang="en-US" sz="950" b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+ 0,1×korelacja (1 − r)
</a:t>
            </a:r>
            <a:pPr algn="l" indent="0" marL="0">
              <a:buNone/>
            </a:pPr>
            <a:r>
              <a:rPr lang="en-US" sz="950" b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Trening: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lr=1e-4, batch=32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POTOK KAISTI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Wybór osi: SNR-based (P2P/MAD) spośród SCG_X/Y/Z i GCG_X/Y/Z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1636776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6367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Butterworth 3°: 0,5–20 Hz (SCG/GCG)  /  0,5–40 Hz (EKG)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2039112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0391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Detekcja artefaktów: epoki 10 s, odrzucenie jeśli moc FFT &gt; 125% mediany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2441448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4414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Normalizacja Z-score (per okno)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2843784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437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Segmentacja: okna 1024 pkt bez nakładania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0" y="3337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MODELU (6 rekordów walidacyjnych)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630168"/>
            <a:ext cx="13716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666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72000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0.222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4233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Pearson 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630168"/>
            <a:ext cx="13716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666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035040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4233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498080" y="3630168"/>
            <a:ext cx="13716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666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498080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0" y="4233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 (sub_26)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Zestawienie wyników — wszystkie modele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Srednia korelacja Pearsona 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v2 ★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380744"/>
            <a:ext cx="2743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380744"/>
            <a:ext cx="2267712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2984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v1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11096"/>
            <a:ext cx="2743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911096"/>
            <a:ext cx="2212848" cy="25603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8288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35915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2441448"/>
            <a:ext cx="2743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441448"/>
            <a:ext cx="1962912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9648" y="23591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88950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PCA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2971800"/>
            <a:ext cx="2743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2971800"/>
            <a:ext cx="1822704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9440" y="28895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41985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UNet1D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3502152"/>
            <a:ext cx="2743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3502152"/>
            <a:ext cx="1591056" cy="256032"/>
          </a:xfrm>
          <a:prstGeom prst="rect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4198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914400"/>
            <a:ext cx="1417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914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914400"/>
            <a:ext cx="123444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9144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 ± 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914400"/>
            <a:ext cx="566928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9144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16368" y="914400"/>
            <a:ext cx="676656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914400"/>
            <a:ext cx="676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93024" y="914400"/>
            <a:ext cx="676656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914400"/>
            <a:ext cx="676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97680" y="1417320"/>
            <a:ext cx="1417320" cy="475488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14173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BiLSTM+T. v2 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15000" y="1417320"/>
            <a:ext cx="1234440" cy="475488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141732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0,372 ± 0,222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49440" y="1417320"/>
            <a:ext cx="566928" cy="475488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141732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516368" y="1417320"/>
            <a:ext cx="676656" cy="475488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1417320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93024" y="1417320"/>
            <a:ext cx="676656" cy="475488"/>
          </a:xfrm>
          <a:prstGeom prst="rect">
            <a:avLst/>
          </a:prstGeom>
          <a:solidFill>
            <a:srgbClr val="D6EA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93024" y="1417320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236,4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97680" y="1938528"/>
            <a:ext cx="1417320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193852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BiLSTM+T. v1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15000" y="1938528"/>
            <a:ext cx="1234440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19385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0,363 ± 0,172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49440" y="1938528"/>
            <a:ext cx="566928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193852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16368" y="1938528"/>
            <a:ext cx="676656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16368" y="1938528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144,1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193024" y="1938528"/>
            <a:ext cx="676656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93024" y="1938528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213,6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97680" y="2459736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0" y="245973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15000" y="2459736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24597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0,322 ± 0,241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49440" y="2459736"/>
            <a:ext cx="5669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245973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516368" y="2459736"/>
            <a:ext cx="676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16368" y="2459736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240,2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193024" y="2459736"/>
            <a:ext cx="676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93024" y="2459736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349,7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297680" y="2980944"/>
            <a:ext cx="1417320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0" y="298094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PCA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715000" y="2980944"/>
            <a:ext cx="1234440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00" y="298094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0,299 ± 0,323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949440" y="2980944"/>
            <a:ext cx="566928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0" y="2980944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516368" y="2980944"/>
            <a:ext cx="676656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16368" y="2980944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218,2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193024" y="2980944"/>
            <a:ext cx="676656" cy="475488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93024" y="2980944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331,7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297680" y="3502152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97680" y="350215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UNet1D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715000" y="3502152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15000" y="3502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0,261 ± 0,219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6949440" y="3502152"/>
            <a:ext cx="56692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49440" y="3502152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516368" y="3502152"/>
            <a:ext cx="676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16368" y="3502152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122,4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193024" y="3502152"/>
            <a:ext cx="676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93024" y="3502152"/>
            <a:ext cx="676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181,7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HR/SDNN/RMSSD — MAE w bpm/ms/ms  |  ★ Najlepszy wynik sredni na 6 rekordach walidacyjnych (niewidzianych)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per rekord — korelacja Pearsona 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96469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9646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4732" y="914400"/>
            <a:ext cx="745236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914400"/>
            <a:ext cx="7452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Zbiór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914400"/>
            <a:ext cx="113934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914400"/>
            <a:ext cx="11393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9310" y="914400"/>
            <a:ext cx="113934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9310" y="914400"/>
            <a:ext cx="11393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8653" y="914400"/>
            <a:ext cx="113934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8653" y="914400"/>
            <a:ext cx="11393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7995" y="914400"/>
            <a:ext cx="113934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7995" y="914400"/>
            <a:ext cx="11393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7338" y="914400"/>
            <a:ext cx="1139342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7338" y="914400"/>
            <a:ext cx="11393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UNet1D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26680" y="914400"/>
            <a:ext cx="1095451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914400"/>
            <a:ext cx="109545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316736"/>
            <a:ext cx="9646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316736"/>
            <a:ext cx="964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84732" y="1316736"/>
            <a:ext cx="7452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4732" y="1316736"/>
            <a:ext cx="7452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29968" y="1316736"/>
            <a:ext cx="113934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13167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69310" y="131673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9310" y="13167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08653" y="1316736"/>
            <a:ext cx="1139342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08653" y="13167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7995" y="131673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7995" y="13167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0,315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7338" y="131673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7338" y="13167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0,113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26680" y="1316736"/>
            <a:ext cx="109545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1316736"/>
            <a:ext cx="10954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(MAX)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1865376"/>
            <a:ext cx="96469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865376"/>
            <a:ext cx="964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CP-50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84732" y="1865376"/>
            <a:ext cx="745236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4732" y="1865376"/>
            <a:ext cx="7452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029968" y="1865376"/>
            <a:ext cx="113934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9968" y="186537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69310" y="1865376"/>
            <a:ext cx="113934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69310" y="186537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0,184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08653" y="1865376"/>
            <a:ext cx="113934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08653" y="186537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47995" y="1865376"/>
            <a:ext cx="113934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7995" y="186537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0,096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87338" y="1865376"/>
            <a:ext cx="113934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7338" y="186537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26680" y="1865376"/>
            <a:ext cx="1095451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1865376"/>
            <a:ext cx="10954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2414016"/>
            <a:ext cx="9646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414016"/>
            <a:ext cx="964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UP-28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284732" y="2414016"/>
            <a:ext cx="74523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4732" y="2414016"/>
            <a:ext cx="7452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029968" y="241401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9968" y="241401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0,279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169310" y="241401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69310" y="241401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0,398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308653" y="241401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08653" y="241401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0,197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47995" y="241401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47995" y="241401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0,334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87338" y="2414016"/>
            <a:ext cx="113934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7338" y="241401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0,108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726680" y="2414016"/>
            <a:ext cx="109545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26680" y="2414016"/>
            <a:ext cx="10954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" y="2962656"/>
            <a:ext cx="96469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2962656"/>
            <a:ext cx="964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sub_19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284732" y="2962656"/>
            <a:ext cx="745236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84732" y="2962656"/>
            <a:ext cx="7452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029968" y="2962656"/>
            <a:ext cx="113934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29968" y="296265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0,482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169310" y="2962656"/>
            <a:ext cx="1139342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69310" y="296265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0,604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308653" y="2962656"/>
            <a:ext cx="113934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08653" y="296265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0,217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447995" y="2962656"/>
            <a:ext cx="113934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47995" y="296265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0,502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587338" y="2962656"/>
            <a:ext cx="113934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87338" y="296265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0,522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726680" y="2962656"/>
            <a:ext cx="1095451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26680" y="2962656"/>
            <a:ext cx="10954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0040" y="3511296"/>
            <a:ext cx="964692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3511296"/>
            <a:ext cx="964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sub_22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284732" y="3511296"/>
            <a:ext cx="745236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84732" y="3511296"/>
            <a:ext cx="7452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029968" y="3511296"/>
            <a:ext cx="113934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29968" y="351129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0,094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169310" y="3511296"/>
            <a:ext cx="1139342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169310" y="351129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0,289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308653" y="3511296"/>
            <a:ext cx="113934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08653" y="351129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-0,083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447995" y="3511296"/>
            <a:ext cx="113934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47995" y="351129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0,020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587338" y="3511296"/>
            <a:ext cx="113934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87338" y="351129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0,050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7726680" y="3511296"/>
            <a:ext cx="1095451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26680" y="3511296"/>
            <a:ext cx="10954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(*) slabe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20040" y="4059936"/>
            <a:ext cx="96469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4059936"/>
            <a:ext cx="9646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sub_26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284732" y="4059936"/>
            <a:ext cx="745236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84732" y="4059936"/>
            <a:ext cx="7452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2029968" y="4059936"/>
            <a:ext cx="113934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029968" y="40599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0,535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3169310" y="4059936"/>
            <a:ext cx="1139342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169310" y="40599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0,651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308653" y="4059936"/>
            <a:ext cx="1139342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08653" y="40599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0,498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5447995" y="4059936"/>
            <a:ext cx="1139342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47995" y="40599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0,663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6587338" y="4059936"/>
            <a:ext cx="113934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587338" y="4059936"/>
            <a:ext cx="11393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0,359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7726680" y="4059936"/>
            <a:ext cx="1095451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26680" y="4059936"/>
            <a:ext cx="10954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/ v2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Kolory:  zielony r &gt;= 0,6  |  zolty 0,45-0,6  |  czerwony r &lt; 0,10  |  (*) sub_22 i CP-50 problematyczne dla wszystkich modeli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Omówienie wyników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v2 &gt; v1 — inicjalizacja 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Różnica: sinusoidalna vs. losowa init positional embedding. v2 osiąga r=0,372 vs. r=0,363. PE losowe sprzyja zapamiętywaniu pozycji fazowych pacjentów treningowych.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60520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najwyższy potencjał, niska stabilność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408176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r=0,838 na CP-27 — najlepszy wynik spośród wszystkich modeli. Ale σ=0,323 (największa wariancja) i r=−0,083 na sub_22. Selekcja PCA jest wrażliwa na jakość nagrania.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416052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sub_22 i CP-50 — problematyczne rekordy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328416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Żaden model nie przekracza r=0,289 na sub_22. CP-50: HR_diff&gt;34 bpm dla wszystkich. Prawdopodobna przyczyna: artefakty ruchowe lub niestandardowe ułożenie czujnika.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160520" cy="3657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Kompromis: dokładność vs. stabilność HRV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328416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v1 ma niższy HR MAE (8,6 vs. 9,3 bpm) i SDNN MAE (144 vs. 174 ms) niż v2. UNet1D osiąga najniższe błędy SDNN/RMSSD mimo niższego r — dobrze odtwarza rytm.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" cy="4114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Rekonstrukcja EKG z SCG+GCG jest możliwa cross-subject. Najlepszy model: r=0,372 (v2), max r=0,651 (sub_26) i r=0,838 (PCA na CP-27).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11480" cy="4114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70992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 PE (sinusoidalna vs. losowa) ma mierzalny wpływ — v2 nieznacznie wyprzedza v1 i częściowo potwierdza hipotezę o zapamiętywaniu faz.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411480" cy="4114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505456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PCA ma najwyższy potencjał przy korzystnym sygnale, ale wymaga mechanizmu fallback — niska stabilność (σ=0,323) dyskwalifikuje go jako jedyne rozwiązanie.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411480" cy="4114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300984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HRV akceptowalne dla wellness/sport (HR MAE ~9 bpm, SDNN MAE ~20–40 ms na dobrych rekordach). Niewystarczające dla diagnostyki klinicznej.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411480" cy="4114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dalszego rozwoju: kalibracja osobnicza (fine-tuning na krótkim EKG), więcej danych VHD, poprawa pipeline PCA, augmentacja danych.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Rekonstrukcja EKG z SCG/GCG</dc:title>
  <dc:subject>PptxGenJS Presentation</dc:subject>
  <dc:creator>Hubert Kozierkiewicz</dc:creator>
  <cp:lastModifiedBy>Hubert Kozierkiewicz</cp:lastModifiedBy>
  <cp:revision>1</cp:revision>
  <dcterms:created xsi:type="dcterms:W3CDTF">2026-06-10T08:22:00Z</dcterms:created>
  <dcterms:modified xsi:type="dcterms:W3CDTF">2026-06-10T08:22:00Z</dcterms:modified>
</cp:coreProperties>
</file>